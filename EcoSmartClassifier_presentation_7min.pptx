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Introduction (30 sec): Presenter l objectif: classifier et valoriser des dechets (Tunisie) via un pipeline data/ML complet et une application Flutter connectee a une API d inference. Annoncer les modules: imputation, modeles, clustering, NLP et MLOps.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(40 sec): Poser le contexte (dechets) et les 2 taches: classification + regression. Insister sur l approche produit: API + interface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(45 sec): Donner une vue globale des etapes et de l outillage MLOps.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(55 sec): Expliquer le protocole RMSE, puis justifier le choix KNN.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(70 sec): Presenter les resultats cles et une lecture critique (risque dataset trop separable).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(45 sec): Expliquer k=4, PCA et ce que les clusters apportent au produit.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(55 sec): Montrer l avantage du multimodal pour exploiter Rapport_Collecte + mesures.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(65 sec): Expliquer comment on passe du notebook a une chaine industrialisable.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Montrer: (1) dashboard, (2) sliders en temps reel, (3) assistant texte -&gt;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(40 sec): Conclure et ouvrir sur une mini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(20 sec): Inviter aux questions et proposer mini demo si necessaire.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38160" y="-868680"/>
            <a:ext cx="5120640" cy="5120640"/>
          </a:xfrm>
          <a:prstGeom prst="ellipse">
            <a:avLst/>
          </a:prstGeom>
          <a:solidFill>
            <a:srgbClr val="148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206240"/>
            <a:ext cx="4480560" cy="4480560"/>
          </a:xfrm>
          <a:prstGeom prst="ellipse">
            <a:avLst/>
          </a:prstGeom>
          <a:solidFill>
            <a:srgbClr val="0F5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969264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 b="1">
                <a:solidFill>
                  <a:srgbClr val="F5F7FA"/>
                </a:solidFill>
                <a:latin typeface="Calibri"/>
              </a:rPr>
              <a:t>Eco-Smart Classifier
Pipeline Data &amp;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632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CEE4F8"/>
                </a:solidFill>
                <a:latin typeface="Calibri"/>
              </a:rPr>
              <a:t>Classification + Prix + Clustering + NLP + MLOps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977639"/>
            <a:ext cx="2011680" cy="484632"/>
          </a:xfrm>
          <a:prstGeom prst="roundRect">
            <a:avLst/>
          </a:prstGeom>
          <a:solidFill>
            <a:srgbClr val="E4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B2D5C"/>
                </a:solidFill>
                <a:latin typeface="Calibri"/>
              </a:rPr>
              <a:t>Classification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3977639"/>
            <a:ext cx="2011680" cy="484632"/>
          </a:xfrm>
          <a:prstGeom prst="roundRect">
            <a:avLst/>
          </a:prstGeom>
          <a:solidFill>
            <a:srgbClr val="E4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B2D5C"/>
                </a:solidFill>
                <a:latin typeface="Calibri"/>
              </a:rPr>
              <a:t>Regression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9240" y="3977639"/>
            <a:ext cx="2011680" cy="484632"/>
          </a:xfrm>
          <a:prstGeom prst="roundRect">
            <a:avLst/>
          </a:prstGeom>
          <a:solidFill>
            <a:srgbClr val="E4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B2D5C"/>
                </a:solidFill>
                <a:latin typeface="Calibri"/>
              </a:rPr>
              <a:t>Clustering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3977639"/>
            <a:ext cx="2011680" cy="484632"/>
          </a:xfrm>
          <a:prstGeom prst="roundRect">
            <a:avLst/>
          </a:prstGeom>
          <a:solidFill>
            <a:srgbClr val="E4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B2D5C"/>
                </a:solidFill>
                <a:latin typeface="Calibri"/>
              </a:rPr>
              <a:t>MLOps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6355080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4D8ED"/>
                </a:solidFill>
                <a:latin typeface="Calibri"/>
              </a:rPr>
              <a:t>Presentation projet - 2026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88952" cy="118872"/>
          </a:xfrm>
          <a:prstGeom prst="rect">
            <a:avLst/>
          </a:prstGeom>
          <a:solidFill>
            <a:srgbClr val="148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509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  <a:latin typeface="Calibri"/>
              </a:rPr>
              <a:t>1. Contexte et enjeux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D6E4F3"/>
                </a:solidFill>
                <a:latin typeface="Calibri"/>
              </a:rPr>
              <a:t>Gestion des dechets et economie circulaire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7000" y="237744"/>
            <a:ext cx="1325880" cy="512064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2D5C"/>
                </a:solidFill>
                <a:latin typeface="Calibri"/>
              </a:rPr>
              <a:t>SOUTENANCE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972800" cy="4892040"/>
          </a:xfrm>
          <a:prstGeom prst="roundRect">
            <a:avLst/>
          </a:prstGeom>
          <a:solidFill>
            <a:srgbClr val="F8FBFF"/>
          </a:solidFill>
          <a:ln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219456" tIns="164592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Objectif: classifier (categorie) et estimer le prix de revente (TND)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Donnees heterogenes: numerique + texte (Rapport_Collecte)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Livrable: pipeline reproductible + API d inference + UI Flutter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20256"/>
            <a:ext cx="6858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E6875"/>
                </a:solidFill>
                <a:latin typeface="Calibri"/>
              </a:rPr>
              <a:t>Eco-Smart Classifier - Flutter + FastAPI/Django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620256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B2D5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88952" cy="118872"/>
          </a:xfrm>
          <a:prstGeom prst="rect">
            <a:avLst/>
          </a:prstGeom>
          <a:solidFill>
            <a:srgbClr val="148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509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  <a:latin typeface="Calibri"/>
              </a:rPr>
              <a:t>2. Pipeline end-to-end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D6E4F3"/>
                </a:solidFill>
                <a:latin typeface="Calibri"/>
              </a:rPr>
              <a:t>De la data brute au monitoring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7000" y="237744"/>
            <a:ext cx="1325880" cy="512064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2D5C"/>
                </a:solidFill>
                <a:latin typeface="Calibri"/>
              </a:rPr>
              <a:t>SOUTENANCE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972800" cy="4892040"/>
          </a:xfrm>
          <a:prstGeom prst="roundRect">
            <a:avLst/>
          </a:prstGeom>
          <a:solidFill>
            <a:srgbClr val="F8FBFF"/>
          </a:solidFill>
          <a:ln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219456" tIns="164592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Nettoyage + imputation + feature engineering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Training: classification, regression, clustering, NLP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MLOps: DVC (repro), MLflow (tracking/registry), tests, monitoring drift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20256"/>
            <a:ext cx="6858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E6875"/>
                </a:solidFill>
                <a:latin typeface="Calibri"/>
              </a:rPr>
              <a:t>Eco-Smart Classifier - Flutter + FastAPI/Django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620256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B2D5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88952" cy="118872"/>
          </a:xfrm>
          <a:prstGeom prst="rect">
            <a:avLst/>
          </a:prstGeom>
          <a:solidFill>
            <a:srgbClr val="148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509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  <a:latin typeface="Calibri"/>
              </a:rPr>
              <a:t>3. Nettoyage et imputation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D6E4F3"/>
                </a:solidFill>
                <a:latin typeface="Calibri"/>
              </a:rPr>
              <a:t>Median vs KNN vs IterativeImputer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7000" y="237744"/>
            <a:ext cx="1325880" cy="512064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2D5C"/>
                </a:solidFill>
                <a:latin typeface="Calibri"/>
              </a:rPr>
              <a:t>SOUTENANCE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972800" cy="4892040"/>
          </a:xfrm>
          <a:prstGeom prst="roundRect">
            <a:avLst/>
          </a:prstGeom>
          <a:solidFill>
            <a:srgbClr val="F8FBFF"/>
          </a:solidFill>
          <a:ln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219456" tIns="164592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Probleme: ~10% de valeurs manquantes sur Poids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Comparaison quantitative via masquage 10% + RMSE de reconstruction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Decision: KNN (k=5) meilleur compromis qualite/cout ; Iterative plus lent et instable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20256"/>
            <a:ext cx="6858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E6875"/>
                </a:solidFill>
                <a:latin typeface="Calibri"/>
              </a:rPr>
              <a:t>Eco-Smart Classifier - Flutter + FastAPI/Django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620256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B2D5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88952" cy="118872"/>
          </a:xfrm>
          <a:prstGeom prst="rect">
            <a:avLst/>
          </a:prstGeom>
          <a:solidFill>
            <a:srgbClr val="148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509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  <a:latin typeface="Calibri"/>
              </a:rPr>
              <a:t>4. Modeles supervises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D6E4F3"/>
                </a:solidFill>
                <a:latin typeface="Calibri"/>
              </a:rPr>
              <a:t>Classification + Regression (prix)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7000" y="237744"/>
            <a:ext cx="1325880" cy="512064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2D5C"/>
                </a:solidFill>
                <a:latin typeface="Calibri"/>
              </a:rPr>
              <a:t>SOUTENANCE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972800" cy="4892040"/>
          </a:xfrm>
          <a:prstGeom prst="roundRect">
            <a:avLst/>
          </a:prstGeom>
          <a:solidFill>
            <a:srgbClr val="F8FBFF"/>
          </a:solidFill>
          <a:ln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219456" tIns="164592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Classification: LogReg vs RandomForest vs GradientBoosting (ACC/F1)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Regression: LinReg vs RFRegressor vs GBRegressor (MAE/RMSE/R2)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Point critique: ecart validation/test a surveiller (outliers, shift, split)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20256"/>
            <a:ext cx="6858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E6875"/>
                </a:solidFill>
                <a:latin typeface="Calibri"/>
              </a:rPr>
              <a:t>Eco-Smart Classifier - Flutter + FastAPI/Django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620256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B2D5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88952" cy="118872"/>
          </a:xfrm>
          <a:prstGeom prst="rect">
            <a:avLst/>
          </a:prstGeom>
          <a:solidFill>
            <a:srgbClr val="148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509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  <a:latin typeface="Calibri"/>
              </a:rPr>
              <a:t>5. Clustering non supervise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D6E4F3"/>
                </a:solidFill>
                <a:latin typeface="Calibri"/>
              </a:rPr>
              <a:t>K-Means + Elbow + PCA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7000" y="237744"/>
            <a:ext cx="1325880" cy="512064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2D5C"/>
                </a:solidFill>
                <a:latin typeface="Calibri"/>
              </a:rPr>
              <a:t>SOUTENANCE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972800" cy="4892040"/>
          </a:xfrm>
          <a:prstGeom prst="roundRect">
            <a:avLst/>
          </a:prstGeom>
          <a:solidFill>
            <a:srgbClr val="F8FBFF"/>
          </a:solidFill>
          <a:ln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219456" tIns="164592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Elbow method: k=4 clusters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PCA 2D pour visualiser et interpreter les segments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Utilite: comprendre des sous-profils de dechets (metal, plastique, papier, verre)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20256"/>
            <a:ext cx="6858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E6875"/>
                </a:solidFill>
                <a:latin typeface="Calibri"/>
              </a:rPr>
              <a:t>Eco-Smart Classifier - Flutter + FastAPI/Django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620256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B2D5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88952" cy="118872"/>
          </a:xfrm>
          <a:prstGeom prst="rect">
            <a:avLst/>
          </a:prstGeom>
          <a:solidFill>
            <a:srgbClr val="148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509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  <a:latin typeface="Calibri"/>
              </a:rPr>
              <a:t>6. Multimodal + NLP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D6E4F3"/>
                </a:solidFill>
                <a:latin typeface="Calibri"/>
              </a:rPr>
              <a:t>Texte + numerique dans un seul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7000" y="237744"/>
            <a:ext cx="1325880" cy="512064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2D5C"/>
                </a:solidFill>
                <a:latin typeface="Calibri"/>
              </a:rPr>
              <a:t>SOUTENANCE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972800" cy="4892040"/>
          </a:xfrm>
          <a:prstGeom prst="roundRect">
            <a:avLst/>
          </a:prstGeom>
          <a:solidFill>
            <a:srgbClr val="F8FBFF"/>
          </a:solidFill>
          <a:ln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219456" tIns="164592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Vectorisation texte (TF-IDF uni+bi) + variables numeriques (ColumnTransformer)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Option: StackingClassifier pour combiner plusieurs modeles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NLP: nettoyage, stopwords, n-grams ; evaluation par accuracy &gt;= 0.70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20256"/>
            <a:ext cx="6858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E6875"/>
                </a:solidFill>
                <a:latin typeface="Calibri"/>
              </a:rPr>
              <a:t>Eco-Smart Classifier - Flutter + FastAPI/Django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620256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B2D5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88952" cy="118872"/>
          </a:xfrm>
          <a:prstGeom prst="rect">
            <a:avLst/>
          </a:prstGeom>
          <a:solidFill>
            <a:srgbClr val="148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509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  <a:latin typeface="Calibri"/>
              </a:rPr>
              <a:t>7. MLOps et qualite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D6E4F3"/>
                </a:solidFill>
                <a:latin typeface="Calibri"/>
              </a:rPr>
              <a:t>Reproductibilite + registry + monitoring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7000" y="237744"/>
            <a:ext cx="1325880" cy="512064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2D5C"/>
                </a:solidFill>
                <a:latin typeface="Calibri"/>
              </a:rPr>
              <a:t>SOUTENANCE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972800" cy="4892040"/>
          </a:xfrm>
          <a:prstGeom prst="roundRect">
            <a:avLst/>
          </a:prstGeom>
          <a:solidFill>
            <a:srgbClr val="F8FBFF"/>
          </a:solidFill>
          <a:ln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219456" tIns="164592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DVC: pipeline rejouable (preprocess + train) via dvc repro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MLflow: tracking des runs + Model Registry (stage Production)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Tests: pytest dans venv Py3.12 + couverture &gt;= 70% sur api_inference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Monitoring: Evidently (data drift) + alertes JSON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20256"/>
            <a:ext cx="6858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E6875"/>
                </a:solidFill>
                <a:latin typeface="Calibri"/>
              </a:rPr>
              <a:t>Eco-Smart Classifier - Flutter + FastAPI/Django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620256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B2D5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88952" cy="118872"/>
          </a:xfrm>
          <a:prstGeom prst="rect">
            <a:avLst/>
          </a:prstGeom>
          <a:solidFill>
            <a:srgbClr val="148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509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  <a:latin typeface="Calibri"/>
              </a:rPr>
              <a:t>8. Demonstration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87000" y="237744"/>
            <a:ext cx="1325880" cy="512064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2D5C"/>
                </a:solidFill>
                <a:latin typeface="Calibri"/>
              </a:rPr>
              <a:t>SOUTENANCE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B2D5C"/>
                </a:solidFill>
                <a:latin typeface="Calibri"/>
              </a:rPr>
              <a:t>UI Flutter: Dashboard / Curseurs / Assistant NLP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5394960" cy="3429000"/>
          </a:xfrm>
          <a:prstGeom prst="roundRect">
            <a:avLst/>
          </a:prstGeom>
          <a:solidFill>
            <a:srgbClr val="F7FAFF"/>
          </a:solidFill>
          <a:ln>
            <a:solidFill>
              <a:srgbClr val="1483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2D5C"/>
                </a:solidFill>
                <a:latin typeface="Calibri"/>
              </a:rPr>
              <a:t>INSERER CAPTURE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16752" y="1965960"/>
            <a:ext cx="5394960" cy="3429000"/>
          </a:xfrm>
          <a:prstGeom prst="roundRect">
            <a:avLst/>
          </a:prstGeom>
          <a:solidFill>
            <a:srgbClr val="F7FAFF"/>
          </a:solidFill>
          <a:ln>
            <a:solidFill>
              <a:srgbClr val="1483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2D5C"/>
                </a:solidFill>
                <a:latin typeface="Calibri"/>
              </a:rPr>
              <a:t>INSERER CAPTURE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577840"/>
            <a:ext cx="10634472" cy="658368"/>
          </a:xfrm>
          <a:prstGeom prst="roundRect">
            <a:avLst/>
          </a:prstGeom>
          <a:solidFill>
            <a:srgbClr val="FFF8E7"/>
          </a:solidFill>
          <a:ln>
            <a:solidFill>
              <a:srgbClr val="F0C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6D4D10"/>
                </a:solidFill>
                <a:latin typeface="Calibri"/>
              </a:rPr>
              <a:t>Message cle: Montrer: (1) dashboard, (2) sliders en temps reel, (3) assistant texte -&gt; prediction.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620256"/>
            <a:ext cx="6858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E6875"/>
                </a:solidFill>
                <a:latin typeface="Calibri"/>
              </a:rPr>
              <a:t>Eco-Smart Classifier - Flutter + FastAPI/Django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620256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B2D5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88952" cy="118872"/>
          </a:xfrm>
          <a:prstGeom prst="rect">
            <a:avLst/>
          </a:prstGeom>
          <a:solidFill>
            <a:srgbClr val="148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509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  <a:latin typeface="Calibri"/>
              </a:rPr>
              <a:t>9.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D6E4F3"/>
                </a:solidFill>
                <a:latin typeface="Calibri"/>
              </a:rPr>
              <a:t>Message final et limites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7000" y="237744"/>
            <a:ext cx="1325880" cy="512064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2D5C"/>
                </a:solidFill>
                <a:latin typeface="Calibri"/>
              </a:rPr>
              <a:t>SOUTENANCE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972800" cy="4892040"/>
          </a:xfrm>
          <a:prstGeom prst="roundRect">
            <a:avLst/>
          </a:prstGeom>
          <a:solidFill>
            <a:srgbClr val="F8FBFF"/>
          </a:solidFill>
          <a:ln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219456" tIns="164592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Solution complete: data -&gt; modeles -&gt; API -&gt; interface -&gt; monitoring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Limites: possibles biais dataset, gestion outliers et evaluation en conditions reelles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Perspectives: embeddings type CamemBERT, deploiement cloud, dashboard monitoring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20256"/>
            <a:ext cx="6858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E6875"/>
                </a:solidFill>
                <a:latin typeface="Calibri"/>
              </a:rPr>
              <a:t>Eco-Smart Classifier - Flutter + FastAPI/Django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620256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B2D5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B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88952" cy="118872"/>
          </a:xfrm>
          <a:prstGeom prst="rect">
            <a:avLst/>
          </a:prstGeom>
          <a:solidFill>
            <a:srgbClr val="148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509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  <a:latin typeface="Calibri"/>
              </a:rPr>
              <a:t>10.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67512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D6E4F3"/>
                </a:solidFill>
                <a:latin typeface="Calibri"/>
              </a:rPr>
              <a:t>Fin de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7000" y="237744"/>
            <a:ext cx="1325880" cy="512064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2D5C"/>
                </a:solidFill>
                <a:latin typeface="Calibri"/>
              </a:rPr>
              <a:t>SOUTENANCE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972800" cy="4892040"/>
          </a:xfrm>
          <a:prstGeom prst="roundRect">
            <a:avLst/>
          </a:prstGeom>
          <a:solidFill>
            <a:srgbClr val="F8FBFF"/>
          </a:solidFill>
          <a:ln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219456" tIns="164592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Merci pour votre attention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222222"/>
                </a:solidFill>
                <a:latin typeface="Calibri"/>
              </a:rPr>
              <a:t>• Je suis disponible pour une demonstration supplementaire en direct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20256"/>
            <a:ext cx="6858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E6875"/>
                </a:solidFill>
                <a:latin typeface="Calibri"/>
              </a:rPr>
              <a:t>Eco-Smart Classifier - Flutter + FastAPI/Django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620256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B2D5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