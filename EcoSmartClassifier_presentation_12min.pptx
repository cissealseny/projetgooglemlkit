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Introduction (30 sec): Presenter l objectif: classifier et valoriser des dechets (Tunisie) via un pipeline data/ML complet et une application Flutter connectee a une API d inference. Annoncer les modules: imputation, modeles, clustering, NLP et MLOps.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2 (50 sec): Contextualiser le besoin et annoncer les 2 taches ML.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3 (55 sec): Presenter la chaine de valeur et les choix d outillage.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4 (70 sec): Montrer comment on evite le data leakage (fit sur train, apply sur test).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5 (55 sec): Justifier le choix retenu et les limites.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6 (60 sec): Presenter resultats et lecture critique.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7 (60 sec): Presenter les chiffres cles et l interpretation.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8 (70 sec): Relier les modules a un seul pipeline utilisable en inference.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9 (70 sec): Montrer la maturite: du notebook a la production.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demo (90 sec): Montrer l interface Flutter. Enchainer: dashboard -&gt; sliders -&gt; assistant texte -&gt; prediction.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resultats (60 sec): Presenter les acquis et les limites assumees.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finale (45 sec): Ouvrir sur les bonus et passer aux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2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138160" y="-868680"/>
            <a:ext cx="5120640" cy="5120640"/>
          </a:xfrm>
          <a:prstGeom prst="ellipse">
            <a:avLst/>
          </a:prstGeom>
          <a:solidFill>
            <a:srgbClr val="1483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097280" y="4206240"/>
            <a:ext cx="4480560" cy="4480560"/>
          </a:xfrm>
          <a:prstGeom prst="ellipse">
            <a:avLst/>
          </a:prstGeom>
          <a:solidFill>
            <a:srgbClr val="0F57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645920"/>
            <a:ext cx="9692640" cy="1234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600" b="1">
                <a:solidFill>
                  <a:srgbClr val="F5F7FA"/>
                </a:solidFill>
                <a:latin typeface="Calibri"/>
              </a:rPr>
              <a:t>Eco-Smart Classifier
Pipeline Data &amp; 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3063240"/>
            <a:ext cx="8046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0">
                <a:solidFill>
                  <a:srgbClr val="CEE4F8"/>
                </a:solidFill>
                <a:latin typeface="Calibri"/>
              </a:rPr>
              <a:t>Classification + Prix + Clustering + NLP + MLOps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3977639"/>
            <a:ext cx="2011680" cy="484632"/>
          </a:xfrm>
          <a:prstGeom prst="roundRect">
            <a:avLst/>
          </a:prstGeom>
          <a:solidFill>
            <a:srgbClr val="E4EF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0B2D5C"/>
                </a:solidFill>
                <a:latin typeface="Calibri"/>
              </a:rPr>
              <a:t>Classification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108960" y="3977639"/>
            <a:ext cx="2011680" cy="484632"/>
          </a:xfrm>
          <a:prstGeom prst="roundRect">
            <a:avLst/>
          </a:prstGeom>
          <a:solidFill>
            <a:srgbClr val="E4EF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0B2D5C"/>
                </a:solidFill>
                <a:latin typeface="Calibri"/>
              </a:rPr>
              <a:t>Regression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49240" y="3977639"/>
            <a:ext cx="2011680" cy="484632"/>
          </a:xfrm>
          <a:prstGeom prst="roundRect">
            <a:avLst/>
          </a:prstGeom>
          <a:solidFill>
            <a:srgbClr val="E4EF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0B2D5C"/>
                </a:solidFill>
                <a:latin typeface="Calibri"/>
              </a:rPr>
              <a:t>Clustering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589520" y="3977639"/>
            <a:ext cx="2011680" cy="484632"/>
          </a:xfrm>
          <a:prstGeom prst="roundRect">
            <a:avLst/>
          </a:prstGeom>
          <a:solidFill>
            <a:srgbClr val="E4EF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0B2D5C"/>
                </a:solidFill>
                <a:latin typeface="Calibri"/>
              </a:rPr>
              <a:t>MLOps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6355080"/>
            <a:ext cx="5943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C4D8ED"/>
                </a:solidFill>
                <a:latin typeface="Calibri"/>
              </a:rPr>
              <a:t>Presentation projet - 2026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B2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88952" cy="118872"/>
          </a:xfrm>
          <a:prstGeom prst="rect">
            <a:avLst/>
          </a:prstGeom>
          <a:solidFill>
            <a:srgbClr val="1483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950976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5F7FA"/>
                </a:solidFill>
                <a:latin typeface="Calibri"/>
              </a:rPr>
              <a:t>1. Contexte et enjeux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67512"/>
            <a:ext cx="9875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D6E4F3"/>
                </a:solidFill>
                <a:latin typeface="Calibri"/>
              </a:rPr>
              <a:t>Gestion des dechets et economie circulaire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287000" y="237744"/>
            <a:ext cx="1325880" cy="512064"/>
          </a:xfrm>
          <a:prstGeom prst="round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0B2D5C"/>
                </a:solidFill>
                <a:latin typeface="Calibri"/>
              </a:rPr>
              <a:t>SOUTENANCE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417320"/>
            <a:ext cx="10972800" cy="4892040"/>
          </a:xfrm>
          <a:prstGeom prst="roundRect">
            <a:avLst/>
          </a:prstGeom>
          <a:solidFill>
            <a:srgbClr val="F8FBFF"/>
          </a:solidFill>
          <a:ln>
            <a:solidFill>
              <a:srgbClr val="D9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19456" rIns="219456" tIns="164592"/>
          <a:lstStyle/>
          <a:p>
            <a:pPr algn="ctr">
              <a:spcAft>
                <a:spcPts val="1400"/>
              </a:spcAft>
            </a:pPr>
            <a:r>
              <a:rPr sz="2400" b="0">
                <a:solidFill>
                  <a:srgbClr val="222222"/>
                </a:solidFill>
                <a:latin typeface="Calibri"/>
              </a:rPr>
              <a:t>• Classification de dechets + estimation prix de revente (TND)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222222"/>
                </a:solidFill>
                <a:latin typeface="Calibri"/>
              </a:rPr>
              <a:t>• Donnees: numeriques (Poids, Volume, etc.) + texte (Rapport_Collecte)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222222"/>
                </a:solidFill>
                <a:latin typeface="Calibri"/>
              </a:rPr>
              <a:t>• Objectif produit: API d inference + application Flutter demonstrable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20256"/>
            <a:ext cx="12188952" cy="237744"/>
          </a:xfrm>
          <a:prstGeom prst="rect">
            <a:avLst/>
          </a:prstGeom>
          <a:solidFill>
            <a:srgbClr val="F8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620256"/>
            <a:ext cx="68580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E6875"/>
                </a:solidFill>
                <a:latin typeface="Calibri"/>
              </a:rPr>
              <a:t>Eco-Smart Classifier - Flutter + FastAPI/Django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84280" y="6620256"/>
            <a:ext cx="411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0B2D5C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B2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88952" cy="118872"/>
          </a:xfrm>
          <a:prstGeom prst="rect">
            <a:avLst/>
          </a:prstGeom>
          <a:solidFill>
            <a:srgbClr val="1483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950976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5F7FA"/>
                </a:solidFill>
                <a:latin typeface="Calibri"/>
              </a:rPr>
              <a:t>2. Vue pipeline end-to-end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67512"/>
            <a:ext cx="9875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D6E4F3"/>
                </a:solidFill>
                <a:latin typeface="Calibri"/>
              </a:rPr>
              <a:t>De la data au monitoring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287000" y="237744"/>
            <a:ext cx="1325880" cy="512064"/>
          </a:xfrm>
          <a:prstGeom prst="round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0B2D5C"/>
                </a:solidFill>
                <a:latin typeface="Calibri"/>
              </a:rPr>
              <a:t>SOUTENANCE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417320"/>
            <a:ext cx="10972800" cy="4892040"/>
          </a:xfrm>
          <a:prstGeom prst="roundRect">
            <a:avLst/>
          </a:prstGeom>
          <a:solidFill>
            <a:srgbClr val="F8FBFF"/>
          </a:solidFill>
          <a:ln>
            <a:solidFill>
              <a:srgbClr val="D9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19456" rIns="219456" tIns="164592"/>
          <a:lstStyle/>
          <a:p>
            <a:pPr algn="ctr">
              <a:spcAft>
                <a:spcPts val="1400"/>
              </a:spcAft>
            </a:pPr>
            <a:r>
              <a:rPr sz="2400" b="0">
                <a:solidFill>
                  <a:srgbClr val="222222"/>
                </a:solidFill>
                <a:latin typeface="Calibri"/>
              </a:rPr>
              <a:t>• Nettoyage + imputation + feature engineering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222222"/>
                </a:solidFill>
                <a:latin typeface="Calibri"/>
              </a:rPr>
              <a:t>• Training: classification + regression + clustering + NLP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222222"/>
                </a:solidFill>
                <a:latin typeface="Calibri"/>
              </a:rPr>
              <a:t>• MLOps: DVC, MLflow Registry, tests, monitoring drift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20256"/>
            <a:ext cx="12188952" cy="237744"/>
          </a:xfrm>
          <a:prstGeom prst="rect">
            <a:avLst/>
          </a:prstGeom>
          <a:solidFill>
            <a:srgbClr val="F8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620256"/>
            <a:ext cx="68580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E6875"/>
                </a:solidFill>
                <a:latin typeface="Calibri"/>
              </a:rPr>
              <a:t>Eco-Smart Classifier - Flutter + FastAPI/Django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84280" y="6620256"/>
            <a:ext cx="411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0B2D5C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B2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88952" cy="118872"/>
          </a:xfrm>
          <a:prstGeom prst="rect">
            <a:avLst/>
          </a:prstGeom>
          <a:solidFill>
            <a:srgbClr val="1483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950976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5F7FA"/>
                </a:solidFill>
                <a:latin typeface="Calibri"/>
              </a:rPr>
              <a:t>3. Donnees et preparation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67512"/>
            <a:ext cx="9875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D6E4F3"/>
                </a:solidFill>
                <a:latin typeface="Calibri"/>
              </a:rPr>
              <a:t>EDA, split et pretraitements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287000" y="237744"/>
            <a:ext cx="1325880" cy="512064"/>
          </a:xfrm>
          <a:prstGeom prst="round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0B2D5C"/>
                </a:solidFill>
                <a:latin typeface="Calibri"/>
              </a:rPr>
              <a:t>SOUTENANCE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417320"/>
            <a:ext cx="10972800" cy="4892040"/>
          </a:xfrm>
          <a:prstGeom prst="roundRect">
            <a:avLst/>
          </a:prstGeom>
          <a:solidFill>
            <a:srgbClr val="F8FBFF"/>
          </a:solidFill>
          <a:ln>
            <a:solidFill>
              <a:srgbClr val="D9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19456" rIns="219456" tIns="164592"/>
          <a:lstStyle/>
          <a:p>
            <a:pPr algn="ctr">
              <a:spcAft>
                <a:spcPts val="1400"/>
              </a:spcAft>
            </a:pPr>
            <a:r>
              <a:rPr sz="2400" b="0">
                <a:solidFill>
                  <a:srgbClr val="222222"/>
                </a:solidFill>
                <a:latin typeface="Calibri"/>
              </a:rPr>
              <a:t>• Jeux: train/val/test + dataset full nettoye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222222"/>
                </a:solidFill>
                <a:latin typeface="Calibri"/>
              </a:rPr>
              <a:t>• Outliers: capping IQR ; normalisation si necessaire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222222"/>
                </a:solidFill>
                <a:latin typeface="Calibri"/>
              </a:rPr>
              <a:t>• Encodage source: One-Hot ; ajout de features derivees (densite, log volume)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20256"/>
            <a:ext cx="12188952" cy="237744"/>
          </a:xfrm>
          <a:prstGeom prst="rect">
            <a:avLst/>
          </a:prstGeom>
          <a:solidFill>
            <a:srgbClr val="F8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620256"/>
            <a:ext cx="68580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E6875"/>
                </a:solidFill>
                <a:latin typeface="Calibri"/>
              </a:rPr>
              <a:t>Eco-Smart Classifier - Flutter + FastAPI/Django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84280" y="6620256"/>
            <a:ext cx="411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0B2D5C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B2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88952" cy="118872"/>
          </a:xfrm>
          <a:prstGeom prst="rect">
            <a:avLst/>
          </a:prstGeom>
          <a:solidFill>
            <a:srgbClr val="1483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950976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5F7FA"/>
                </a:solidFill>
                <a:latin typeface="Calibri"/>
              </a:rPr>
              <a:t>4. Imputation des manquants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67512"/>
            <a:ext cx="9875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D6E4F3"/>
                </a:solidFill>
                <a:latin typeface="Calibri"/>
              </a:rPr>
              <a:t>Median vs KNN vs Iterative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287000" y="237744"/>
            <a:ext cx="1325880" cy="512064"/>
          </a:xfrm>
          <a:prstGeom prst="round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0B2D5C"/>
                </a:solidFill>
                <a:latin typeface="Calibri"/>
              </a:rPr>
              <a:t>SOUTENANCE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417320"/>
            <a:ext cx="10972800" cy="4892040"/>
          </a:xfrm>
          <a:prstGeom prst="roundRect">
            <a:avLst/>
          </a:prstGeom>
          <a:solidFill>
            <a:srgbClr val="F8FBFF"/>
          </a:solidFill>
          <a:ln>
            <a:solidFill>
              <a:srgbClr val="D9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19456" rIns="219456" tIns="164592"/>
          <a:lstStyle/>
          <a:p>
            <a:pPr algn="ctr">
              <a:spcAft>
                <a:spcPts val="1400"/>
              </a:spcAft>
            </a:pPr>
            <a:r>
              <a:rPr sz="2400" b="0">
                <a:solidFill>
                  <a:srgbClr val="222222"/>
                </a:solidFill>
                <a:latin typeface="Calibri"/>
              </a:rPr>
              <a:t>• Protocole: masquage 10% sur Poids connu + RMSE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222222"/>
                </a:solidFill>
                <a:latin typeface="Calibri"/>
              </a:rPr>
              <a:t>• KNN (k=5) retient les correlations inter-variables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222222"/>
                </a:solidFill>
                <a:latin typeface="Calibri"/>
              </a:rPr>
              <a:t>• Iterative: plus lent + avertissements de convergence possibles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20256"/>
            <a:ext cx="12188952" cy="237744"/>
          </a:xfrm>
          <a:prstGeom prst="rect">
            <a:avLst/>
          </a:prstGeom>
          <a:solidFill>
            <a:srgbClr val="F8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620256"/>
            <a:ext cx="68580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E6875"/>
                </a:solidFill>
                <a:latin typeface="Calibri"/>
              </a:rPr>
              <a:t>Eco-Smart Classifier - Flutter + FastAPI/Django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84280" y="6620256"/>
            <a:ext cx="411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0B2D5C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B2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88952" cy="118872"/>
          </a:xfrm>
          <a:prstGeom prst="rect">
            <a:avLst/>
          </a:prstGeom>
          <a:solidFill>
            <a:srgbClr val="1483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950976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5F7FA"/>
                </a:solidFill>
                <a:latin typeface="Calibri"/>
              </a:rPr>
              <a:t>5. Classification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67512"/>
            <a:ext cx="9875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D6E4F3"/>
                </a:solidFill>
                <a:latin typeface="Calibri"/>
              </a:rPr>
              <a:t>RandomForest, GradientBoosting, Stacking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287000" y="237744"/>
            <a:ext cx="1325880" cy="512064"/>
          </a:xfrm>
          <a:prstGeom prst="round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0B2D5C"/>
                </a:solidFill>
                <a:latin typeface="Calibri"/>
              </a:rPr>
              <a:t>SOUTENANCE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417320"/>
            <a:ext cx="10972800" cy="4892040"/>
          </a:xfrm>
          <a:prstGeom prst="roundRect">
            <a:avLst/>
          </a:prstGeom>
          <a:solidFill>
            <a:srgbClr val="F8FBFF"/>
          </a:solidFill>
          <a:ln>
            <a:solidFill>
              <a:srgbClr val="D9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19456" rIns="219456" tIns="164592"/>
          <a:lstStyle/>
          <a:p>
            <a:pPr algn="ctr">
              <a:spcAft>
                <a:spcPts val="1400"/>
              </a:spcAft>
            </a:pPr>
            <a:r>
              <a:rPr sz="2400" b="0">
                <a:solidFill>
                  <a:srgbClr val="222222"/>
                </a:solidFill>
                <a:latin typeface="Calibri"/>
              </a:rPr>
              <a:t>• Mesures: Accuracy + F1 pondere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222222"/>
                </a:solidFill>
                <a:latin typeface="Calibri"/>
              </a:rPr>
              <a:t>• Comparaison: LogReg (baseline), RF (robuste), GB (boosting)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222222"/>
                </a:solidFill>
                <a:latin typeface="Calibri"/>
              </a:rPr>
              <a:t>• Point critique: scores tres eleves -&gt; verifier separabilite et fuite de donnees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20256"/>
            <a:ext cx="12188952" cy="237744"/>
          </a:xfrm>
          <a:prstGeom prst="rect">
            <a:avLst/>
          </a:prstGeom>
          <a:solidFill>
            <a:srgbClr val="F8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620256"/>
            <a:ext cx="68580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E6875"/>
                </a:solidFill>
                <a:latin typeface="Calibri"/>
              </a:rPr>
              <a:t>Eco-Smart Classifier - Flutter + FastAPI/Django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84280" y="6620256"/>
            <a:ext cx="411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0B2D5C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B2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88952" cy="118872"/>
          </a:xfrm>
          <a:prstGeom prst="rect">
            <a:avLst/>
          </a:prstGeom>
          <a:solidFill>
            <a:srgbClr val="1483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950976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5F7FA"/>
                </a:solidFill>
                <a:latin typeface="Calibri"/>
              </a:rPr>
              <a:t>6. Regression (prix)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67512"/>
            <a:ext cx="9875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D6E4F3"/>
                </a:solidFill>
                <a:latin typeface="Calibri"/>
              </a:rPr>
              <a:t>RFRegressor vs GBRegressor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287000" y="237744"/>
            <a:ext cx="1325880" cy="512064"/>
          </a:xfrm>
          <a:prstGeom prst="round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0B2D5C"/>
                </a:solidFill>
                <a:latin typeface="Calibri"/>
              </a:rPr>
              <a:t>SOUTENANCE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417320"/>
            <a:ext cx="10972800" cy="4892040"/>
          </a:xfrm>
          <a:prstGeom prst="roundRect">
            <a:avLst/>
          </a:prstGeom>
          <a:solidFill>
            <a:srgbClr val="F8FBFF"/>
          </a:solidFill>
          <a:ln>
            <a:solidFill>
              <a:srgbClr val="D9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19456" rIns="219456" tIns="164592"/>
          <a:lstStyle/>
          <a:p>
            <a:pPr algn="ctr">
              <a:spcAft>
                <a:spcPts val="1400"/>
              </a:spcAft>
            </a:pPr>
            <a:r>
              <a:rPr sz="2400" b="0">
                <a:solidFill>
                  <a:srgbClr val="222222"/>
                </a:solidFill>
                <a:latin typeface="Calibri"/>
              </a:rPr>
              <a:t>• Mesures: MAE, RMSE, R2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222222"/>
                </a:solidFill>
                <a:latin typeface="Calibri"/>
              </a:rPr>
              <a:t>• Baseline lineaire faible -&gt; relations non lineaires dominantes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222222"/>
                </a:solidFill>
                <a:latin typeface="Calibri"/>
              </a:rPr>
              <a:t>• Ecart val/test a analyser (outliers, shift, split)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20256"/>
            <a:ext cx="12188952" cy="237744"/>
          </a:xfrm>
          <a:prstGeom prst="rect">
            <a:avLst/>
          </a:prstGeom>
          <a:solidFill>
            <a:srgbClr val="F8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620256"/>
            <a:ext cx="68580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E6875"/>
                </a:solidFill>
                <a:latin typeface="Calibri"/>
              </a:rPr>
              <a:t>Eco-Smart Classifier - Flutter + FastAPI/Django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84280" y="6620256"/>
            <a:ext cx="411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0B2D5C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B2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88952" cy="118872"/>
          </a:xfrm>
          <a:prstGeom prst="rect">
            <a:avLst/>
          </a:prstGeom>
          <a:solidFill>
            <a:srgbClr val="1483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950976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5F7FA"/>
                </a:solidFill>
                <a:latin typeface="Calibri"/>
              </a:rPr>
              <a:t>7. Clustering + NLP + Multimodal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67512"/>
            <a:ext cx="9875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D6E4F3"/>
                </a:solidFill>
                <a:latin typeface="Calibri"/>
              </a:rPr>
              <a:t>Analyse non supervisee et features texte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287000" y="237744"/>
            <a:ext cx="1325880" cy="512064"/>
          </a:xfrm>
          <a:prstGeom prst="round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0B2D5C"/>
                </a:solidFill>
                <a:latin typeface="Calibri"/>
              </a:rPr>
              <a:t>SOUTENANCE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417320"/>
            <a:ext cx="10972800" cy="4892040"/>
          </a:xfrm>
          <a:prstGeom prst="roundRect">
            <a:avLst/>
          </a:prstGeom>
          <a:solidFill>
            <a:srgbClr val="F8FBFF"/>
          </a:solidFill>
          <a:ln>
            <a:solidFill>
              <a:srgbClr val="D9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19456" rIns="219456" tIns="164592"/>
          <a:lstStyle/>
          <a:p>
            <a:pPr algn="ctr">
              <a:spcAft>
                <a:spcPts val="1400"/>
              </a:spcAft>
            </a:pPr>
            <a:r>
              <a:rPr sz="2400" b="0">
                <a:solidFill>
                  <a:srgbClr val="222222"/>
                </a:solidFill>
                <a:latin typeface="Calibri"/>
              </a:rPr>
              <a:t>• K-Means: choix k=4 (elbow) + PCA 2D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222222"/>
                </a:solidFill>
                <a:latin typeface="Calibri"/>
              </a:rPr>
              <a:t>• NLP: TF-IDF, n-grams, pipeline sklearn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222222"/>
                </a:solidFill>
                <a:latin typeface="Calibri"/>
              </a:rPr>
              <a:t>• Multimodal: ColumnTransformer (texte + numerique) ; option stacking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20256"/>
            <a:ext cx="12188952" cy="237744"/>
          </a:xfrm>
          <a:prstGeom prst="rect">
            <a:avLst/>
          </a:prstGeom>
          <a:solidFill>
            <a:srgbClr val="F8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620256"/>
            <a:ext cx="68580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E6875"/>
                </a:solidFill>
                <a:latin typeface="Calibri"/>
              </a:rPr>
              <a:t>Eco-Smart Classifier - Flutter + FastAPI/Django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84280" y="6620256"/>
            <a:ext cx="411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0B2D5C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B2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88952" cy="118872"/>
          </a:xfrm>
          <a:prstGeom prst="rect">
            <a:avLst/>
          </a:prstGeom>
          <a:solidFill>
            <a:srgbClr val="1483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950976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5F7FA"/>
                </a:solidFill>
                <a:latin typeface="Calibri"/>
              </a:rPr>
              <a:t>8. MLOps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67512"/>
            <a:ext cx="9875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D6E4F3"/>
                </a:solidFill>
                <a:latin typeface="Calibri"/>
              </a:rPr>
              <a:t>Reproductibilite, registry, tests, monitoring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287000" y="237744"/>
            <a:ext cx="1325880" cy="512064"/>
          </a:xfrm>
          <a:prstGeom prst="round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0B2D5C"/>
                </a:solidFill>
                <a:latin typeface="Calibri"/>
              </a:rPr>
              <a:t>SOUTENANCE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417320"/>
            <a:ext cx="10972800" cy="4892040"/>
          </a:xfrm>
          <a:prstGeom prst="roundRect">
            <a:avLst/>
          </a:prstGeom>
          <a:solidFill>
            <a:srgbClr val="F8FBFF"/>
          </a:solidFill>
          <a:ln>
            <a:solidFill>
              <a:srgbClr val="D9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19456" rIns="219456" tIns="164592"/>
          <a:lstStyle/>
          <a:p>
            <a:pPr algn="ctr">
              <a:spcAft>
                <a:spcPts val="1400"/>
              </a:spcAft>
            </a:pPr>
            <a:r>
              <a:rPr sz="2400" b="0">
                <a:solidFill>
                  <a:srgbClr val="222222"/>
                </a:solidFill>
                <a:latin typeface="Calibri"/>
              </a:rPr>
              <a:t>• DVC: dvc.yaml + dvc repro pour rejouer preprocess/train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222222"/>
                </a:solidFill>
                <a:latin typeface="Calibri"/>
              </a:rPr>
              <a:t>• MLflow: tracking + Model Registry (promotion Production)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222222"/>
                </a:solidFill>
                <a:latin typeface="Calibri"/>
              </a:rPr>
              <a:t>• Tests: pytest dans venv propre ; couverture sur api_inference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222222"/>
                </a:solidFill>
                <a:latin typeface="Calibri"/>
              </a:rPr>
              <a:t>• Monitoring: Evidently (drift) + alertes JSON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20256"/>
            <a:ext cx="12188952" cy="237744"/>
          </a:xfrm>
          <a:prstGeom prst="rect">
            <a:avLst/>
          </a:prstGeom>
          <a:solidFill>
            <a:srgbClr val="F8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620256"/>
            <a:ext cx="68580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E6875"/>
                </a:solidFill>
                <a:latin typeface="Calibri"/>
              </a:rPr>
              <a:t>Eco-Smart Classifier - Flutter + FastAPI/Django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84280" y="6620256"/>
            <a:ext cx="411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0B2D5C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B2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88952" cy="118872"/>
          </a:xfrm>
          <a:prstGeom prst="rect">
            <a:avLst/>
          </a:prstGeom>
          <a:solidFill>
            <a:srgbClr val="1483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950976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5F7FA"/>
                </a:solidFill>
                <a:latin typeface="Calibri"/>
              </a:rPr>
              <a:t>9. Demonstration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287000" y="237744"/>
            <a:ext cx="1325880" cy="512064"/>
          </a:xfrm>
          <a:prstGeom prst="round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0B2D5C"/>
                </a:solidFill>
                <a:latin typeface="Calibri"/>
              </a:rPr>
              <a:t>SOUTENANCE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17320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B2D5C"/>
                </a:solidFill>
                <a:latin typeface="Calibri"/>
              </a:rPr>
              <a:t>Dashboard + curseurs + assistant NLP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965960"/>
            <a:ext cx="5394960" cy="3429000"/>
          </a:xfrm>
          <a:prstGeom prst="roundRect">
            <a:avLst/>
          </a:prstGeom>
          <a:solidFill>
            <a:srgbClr val="F7FAFF"/>
          </a:solidFill>
          <a:ln>
            <a:solidFill>
              <a:srgbClr val="1483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0B2D5C"/>
                </a:solidFill>
                <a:latin typeface="Calibri"/>
              </a:rPr>
              <a:t>INSERER CAPTURE 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16752" y="1965960"/>
            <a:ext cx="5394960" cy="3429000"/>
          </a:xfrm>
          <a:prstGeom prst="roundRect">
            <a:avLst/>
          </a:prstGeom>
          <a:solidFill>
            <a:srgbClr val="F7FAFF"/>
          </a:solidFill>
          <a:ln>
            <a:solidFill>
              <a:srgbClr val="1483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0B2D5C"/>
                </a:solidFill>
                <a:latin typeface="Calibri"/>
              </a:rPr>
              <a:t>INSERER CAPTURE 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5577840"/>
            <a:ext cx="10634472" cy="658368"/>
          </a:xfrm>
          <a:prstGeom prst="roundRect">
            <a:avLst/>
          </a:prstGeom>
          <a:solidFill>
            <a:srgbClr val="FFF8E7"/>
          </a:solidFill>
          <a:ln>
            <a:solidFill>
              <a:srgbClr val="F0CC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0">
                <a:solidFill>
                  <a:srgbClr val="6D4D10"/>
                </a:solidFill>
                <a:latin typeface="Calibri"/>
              </a:rPr>
              <a:t>Message cle: Slide demo (90 sec): Montrer l interface Flutter. Enchainer: dashboard -&gt; sliders -&gt; assistant texte -&gt; prediction.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620256"/>
            <a:ext cx="12188952" cy="237744"/>
          </a:xfrm>
          <a:prstGeom prst="rect">
            <a:avLst/>
          </a:prstGeom>
          <a:solidFill>
            <a:srgbClr val="F8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6620256"/>
            <a:ext cx="68580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E6875"/>
                </a:solidFill>
                <a:latin typeface="Calibri"/>
              </a:rPr>
              <a:t>Eco-Smart Classifier - Flutter + FastAPI/Django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84280" y="6620256"/>
            <a:ext cx="411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0B2D5C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B2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88952" cy="118872"/>
          </a:xfrm>
          <a:prstGeom prst="rect">
            <a:avLst/>
          </a:prstGeom>
          <a:solidFill>
            <a:srgbClr val="1483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950976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5F7FA"/>
                </a:solidFill>
                <a:latin typeface="Calibri"/>
              </a:rPr>
              <a:t>10. Resultats et limites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67512"/>
            <a:ext cx="9875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D6E4F3"/>
                </a:solidFill>
                <a:latin typeface="Calibri"/>
              </a:rPr>
              <a:t>Bilan global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287000" y="237744"/>
            <a:ext cx="1325880" cy="512064"/>
          </a:xfrm>
          <a:prstGeom prst="round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0B2D5C"/>
                </a:solidFill>
                <a:latin typeface="Calibri"/>
              </a:rPr>
              <a:t>SOUTENANCE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417320"/>
            <a:ext cx="10972800" cy="4892040"/>
          </a:xfrm>
          <a:prstGeom prst="roundRect">
            <a:avLst/>
          </a:prstGeom>
          <a:solidFill>
            <a:srgbClr val="F8FBFF"/>
          </a:solidFill>
          <a:ln>
            <a:solidFill>
              <a:srgbClr val="D9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19456" rIns="219456" tIns="164592"/>
          <a:lstStyle/>
          <a:p>
            <a:pPr algn="ctr">
              <a:spcAft>
                <a:spcPts val="1400"/>
              </a:spcAft>
            </a:pPr>
            <a:r>
              <a:rPr sz="2400" b="0">
                <a:solidFill>
                  <a:srgbClr val="222222"/>
                </a:solidFill>
                <a:latin typeface="Calibri"/>
              </a:rPr>
              <a:t>• Classification et regression avec performances elevees sur splits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222222"/>
                </a:solidFill>
                <a:latin typeface="Calibri"/>
              </a:rPr>
              <a:t>• Pipeline reproductible et demo stable via API d inference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222222"/>
                </a:solidFill>
                <a:latin typeface="Calibri"/>
              </a:rPr>
              <a:t>• Limites: separabilite dataset, robustesse hors-distribution a evaluer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20256"/>
            <a:ext cx="12188952" cy="237744"/>
          </a:xfrm>
          <a:prstGeom prst="rect">
            <a:avLst/>
          </a:prstGeom>
          <a:solidFill>
            <a:srgbClr val="F8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620256"/>
            <a:ext cx="68580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E6875"/>
                </a:solidFill>
                <a:latin typeface="Calibri"/>
              </a:rPr>
              <a:t>Eco-Smart Classifier - Flutter + FastAPI/Django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84280" y="6620256"/>
            <a:ext cx="411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0B2D5C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B2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88952" cy="118872"/>
          </a:xfrm>
          <a:prstGeom prst="rect">
            <a:avLst/>
          </a:prstGeom>
          <a:solidFill>
            <a:srgbClr val="1483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950976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5F7FA"/>
                </a:solidFill>
                <a:latin typeface="Calibri"/>
              </a:rPr>
              <a:t>11. Perspectives &amp; Questions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67512"/>
            <a:ext cx="9875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D6E4F3"/>
                </a:solidFill>
                <a:latin typeface="Calibri"/>
              </a:rPr>
              <a:t>Roadmap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287000" y="237744"/>
            <a:ext cx="1325880" cy="512064"/>
          </a:xfrm>
          <a:prstGeom prst="round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0B2D5C"/>
                </a:solidFill>
                <a:latin typeface="Calibri"/>
              </a:rPr>
              <a:t>SOUTENANCE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417320"/>
            <a:ext cx="10972800" cy="4892040"/>
          </a:xfrm>
          <a:prstGeom prst="roundRect">
            <a:avLst/>
          </a:prstGeom>
          <a:solidFill>
            <a:srgbClr val="F8FBFF"/>
          </a:solidFill>
          <a:ln>
            <a:solidFill>
              <a:srgbClr val="D9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19456" rIns="219456" tIns="164592"/>
          <a:lstStyle/>
          <a:p>
            <a:pPr algn="ctr">
              <a:spcAft>
                <a:spcPts val="1400"/>
              </a:spcAft>
            </a:pPr>
            <a:r>
              <a:rPr sz="2400" b="0">
                <a:solidFill>
                  <a:srgbClr val="222222"/>
                </a:solidFill>
                <a:latin typeface="Calibri"/>
              </a:rPr>
              <a:t>• Bonus: CamemBERT/Sentence Transformers pour enrichir le NLP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222222"/>
                </a:solidFill>
                <a:latin typeface="Calibri"/>
              </a:rPr>
              <a:t>• Deploiement: Render/Railway/HuggingFace Spaces pour API ou Flutter Web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222222"/>
                </a:solidFill>
                <a:latin typeface="Calibri"/>
              </a:rPr>
              <a:t>• Monitoring avance: Prometheus/Grafana sur logs drift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222222"/>
                </a:solidFill>
                <a:latin typeface="Calibri"/>
              </a:rPr>
              <a:t>• Merci pour votre attention - Questions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20256"/>
            <a:ext cx="12188952" cy="237744"/>
          </a:xfrm>
          <a:prstGeom prst="rect">
            <a:avLst/>
          </a:prstGeom>
          <a:solidFill>
            <a:srgbClr val="F8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620256"/>
            <a:ext cx="68580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E6875"/>
                </a:solidFill>
                <a:latin typeface="Calibri"/>
              </a:rPr>
              <a:t>Eco-Smart Classifier - Flutter + FastAPI/Django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84280" y="6620256"/>
            <a:ext cx="411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0B2D5C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